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104" y="5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6476AD-6017-4744-9CED-5071667E7F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728FBA5-3CCB-DE13-007F-526EBF72F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982086-D78C-7C0D-990D-F65C412F4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98EB4-547A-4574-9D21-352EC4963EF3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1E643A-AFDB-F7BB-192D-9F9FB5709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62B3B2-E408-D307-F550-6D5C9F4A3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28F2C-3336-4910-B4A5-C804E3E55C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669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9CC5C9-FF52-86E5-64FD-E445B82C3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399214-CC89-1CBC-DDCD-632D1AAAE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F84007-D96B-A5BD-B2B2-5657A3B3E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98EB4-547A-4574-9D21-352EC4963EF3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B205E5-7F41-3F26-6CFC-C740A8A59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A69C19-1703-2350-6729-A16E79173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28F2C-3336-4910-B4A5-C804E3E55C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2384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A79308-B705-FD9B-4BC2-5363FD6D4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4D408B-8D85-F472-26F0-6F8F5592C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C8B605-C4EF-942B-936F-4221B437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98EB4-547A-4574-9D21-352EC4963EF3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5A6410-3A4B-2963-AB1F-6FCF7B040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EC1B77-970E-F93A-8C1C-67EA66CFF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28F2C-3336-4910-B4A5-C804E3E55C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0310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4CD246-F3F1-75EE-4356-001E89215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79FBE4-59FD-C956-DB17-ADDA1FEE68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A237DD-8AAD-D22D-DA47-1E192B34B2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B86842-EFCC-AC15-251E-B7912594B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98EB4-547A-4574-9D21-352EC4963EF3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D74294-821A-44E6-916E-A914B8344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29F5D3-BE76-5917-9C7F-32CAF836F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28F2C-3336-4910-B4A5-C804E3E55C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7371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1F6A30-1BF9-C862-C011-4D043B7DC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B52165-60FD-ACA4-963C-5739BB4A80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79F7E5F-9B5C-C00F-B6F8-91F1E97BBD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B613ADC-FD6C-1954-5B2A-7F0F67C3EE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729398C-8FBD-6B2E-0D02-EAD70B18DB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A22A497-A4B5-F295-2005-61DE57109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98EB4-547A-4574-9D21-352EC4963EF3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F8503D1-EDA0-47A0-8DE7-1100FA3E1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E8CF07F-41D1-2FCC-9CEF-53F6DF989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28F2C-3336-4910-B4A5-C804E3E55C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39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2FB781-2054-B1C9-954F-06AB97167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BB17D5B-1E48-84D9-A7D7-9CC8A4066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98EB4-547A-4574-9D21-352EC4963EF3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C7FDD20-C3DC-F248-F369-362E31E3B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CDFFEB3-7558-2026-7900-1A1B2F557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28F2C-3336-4910-B4A5-C804E3E55C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261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8D23270-A337-0727-7425-6F8DED2FE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98EB4-547A-4574-9D21-352EC4963EF3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66384C3-0B52-219C-317C-47FF92DF5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C2BDDD-1DF2-04BE-8DA3-17C0B51B4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28F2C-3336-4910-B4A5-C804E3E55C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9741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9709FD-7BB9-1B0C-D5AE-BF309C6B0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EB87E7-FE12-B258-4AB7-EF4FDDF0D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8E2C45-0EED-A4E4-31AB-00CCFC5C87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C23A4A-EBA8-41B3-3DA1-6B7CC99EA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98EB4-547A-4574-9D21-352EC4963EF3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3E706E-805D-88A3-6A26-473CC8BDB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077DFD-6519-A6A2-FA85-C3B9AECEF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28F2C-3336-4910-B4A5-C804E3E55C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0785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B8C95C-C209-D7DD-60F2-45485F311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3E8959B-8D43-77A4-2BAB-744225F02A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117FBE9-7391-5F74-E076-312823CC93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D2CEBA-6601-A5F8-CA84-26EF50800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98EB4-547A-4574-9D21-352EC4963EF3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951C7E-EC3F-CDEF-2C64-759F1DF1E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094820-AC46-A6FA-63AA-55F862B1A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28F2C-3336-4910-B4A5-C804E3E55C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1440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768392-794E-4C03-7A3A-289A76F96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48299D6-A90C-2531-6CA9-DE7F6197A8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6D8869-81D5-1E71-A176-EDDD3765F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98EB4-547A-4574-9D21-352EC4963EF3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A45ADA-2D36-56D8-1D1A-91F384121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57F701-AD36-03C3-03B0-A31F1E067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28F2C-3336-4910-B4A5-C804E3E55C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7579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554C786-157D-2664-CA30-DCE0B7E45C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23DAF95-91A9-6424-E031-BBED7C8BB5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8387DA-284D-72A4-9F71-9CCBBBA7F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98EB4-547A-4574-9D21-352EC4963EF3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51CF03-D72A-039C-B904-0F7EDEC19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563966-223A-0A4E-11C8-A156D2828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28F2C-3336-4910-B4A5-C804E3E55C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4960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9D5FE73-F434-12FC-5B1A-9BC91F795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47AB29-2FE8-99F0-8D48-DC1E1E619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F78145-24C8-ADC8-AD4A-8957F46402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498EB4-547A-4574-9D21-352EC4963EF3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C720BB-6A30-F92D-0860-3A4D941443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4C76BA-EACF-90EB-04B3-9FFE00F888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428F2C-3336-4910-B4A5-C804E3E55C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0691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5" Type="http://schemas.microsoft.com/office/2007/relationships/hdphoto" Target="../media/hdphoto1.wdp"/><Relationship Id="rId10" Type="http://schemas.openxmlformats.org/officeDocument/2006/relationships/image" Target="../media/image9.gif"/><Relationship Id="rId4" Type="http://schemas.openxmlformats.org/officeDocument/2006/relationships/image" Target="../media/image3.png"/><Relationship Id="rId9" Type="http://schemas.openxmlformats.org/officeDocument/2006/relationships/image" Target="../media/image8.jpe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napsackfamily.com/knapsack_core/result.php?sname=all&amp;word=GINSENOSIDE" TargetMode="External"/><Relationship Id="rId2" Type="http://schemas.openxmlformats.org/officeDocument/2006/relationships/hyperlink" Target="https://www.ebi.ac.uk/chembl/explore/compound/CHEMBL58401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1" name="组合 1040">
            <a:extLst>
              <a:ext uri="{FF2B5EF4-FFF2-40B4-BE49-F238E27FC236}">
                <a16:creationId xmlns:a16="http://schemas.microsoft.com/office/drawing/2014/main" id="{094AE41C-D6BD-5BB5-E71D-984B11B6C5EC}"/>
              </a:ext>
            </a:extLst>
          </p:cNvPr>
          <p:cNvGrpSpPr/>
          <p:nvPr/>
        </p:nvGrpSpPr>
        <p:grpSpPr>
          <a:xfrm>
            <a:off x="7278838" y="3971449"/>
            <a:ext cx="3664902" cy="3118685"/>
            <a:chOff x="6256070" y="4064209"/>
            <a:chExt cx="3664902" cy="3118685"/>
          </a:xfrm>
        </p:grpSpPr>
        <p:grpSp>
          <p:nvGrpSpPr>
            <p:cNvPr id="1024" name="组合 1023">
              <a:extLst>
                <a:ext uri="{FF2B5EF4-FFF2-40B4-BE49-F238E27FC236}">
                  <a16:creationId xmlns:a16="http://schemas.microsoft.com/office/drawing/2014/main" id="{0AB55AD9-CC1A-834A-97AF-DB64BC37F5B5}"/>
                </a:ext>
              </a:extLst>
            </p:cNvPr>
            <p:cNvGrpSpPr/>
            <p:nvPr/>
          </p:nvGrpSpPr>
          <p:grpSpPr>
            <a:xfrm>
              <a:off x="7226616" y="4064209"/>
              <a:ext cx="2244350" cy="2357303"/>
              <a:chOff x="6573663" y="3215640"/>
              <a:chExt cx="3185168" cy="3345470"/>
            </a:xfrm>
          </p:grpSpPr>
          <p:pic>
            <p:nvPicPr>
              <p:cNvPr id="60" name="图片 59">
                <a:extLst>
                  <a:ext uri="{FF2B5EF4-FFF2-40B4-BE49-F238E27FC236}">
                    <a16:creationId xmlns:a16="http://schemas.microsoft.com/office/drawing/2014/main" id="{77109188-4220-24A8-2C7D-7EA0A197E2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42959"/>
              <a:stretch>
                <a:fillRect/>
              </a:stretch>
            </p:blipFill>
            <p:spPr>
              <a:xfrm>
                <a:off x="6573663" y="3215640"/>
                <a:ext cx="2690733" cy="3345470"/>
              </a:xfrm>
              <a:prstGeom prst="rect">
                <a:avLst/>
              </a:prstGeom>
            </p:spPr>
          </p:pic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8A2DB03F-E355-BD5C-AB93-C43A86850818}"/>
                  </a:ext>
                </a:extLst>
              </p:cNvPr>
              <p:cNvSpPr/>
              <p:nvPr/>
            </p:nvSpPr>
            <p:spPr>
              <a:xfrm>
                <a:off x="7940149" y="3389021"/>
                <a:ext cx="1243321" cy="127431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7316BC23-4AC9-D753-E48F-11EB48E1D573}"/>
                  </a:ext>
                </a:extLst>
              </p:cNvPr>
              <p:cNvSpPr/>
              <p:nvPr/>
            </p:nvSpPr>
            <p:spPr>
              <a:xfrm rot="20958306">
                <a:off x="8307018" y="4087977"/>
                <a:ext cx="1451813" cy="12190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5872282B-502D-40D4-8F8F-3B5E4A951334}"/>
                </a:ext>
              </a:extLst>
            </p:cNvPr>
            <p:cNvSpPr txBox="1"/>
            <p:nvPr/>
          </p:nvSpPr>
          <p:spPr>
            <a:xfrm>
              <a:off x="6402060" y="6259564"/>
              <a:ext cx="3518912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A-Glycan Database</a:t>
              </a:r>
            </a:p>
            <a:p>
              <a:pPr algn="ctr"/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(Framework/Functional group)</a:t>
              </a:r>
            </a:p>
            <a:p>
              <a:pPr algn="ctr"/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5" name="文本框 1024">
              <a:extLst>
                <a:ext uri="{FF2B5EF4-FFF2-40B4-BE49-F238E27FC236}">
                  <a16:creationId xmlns:a16="http://schemas.microsoft.com/office/drawing/2014/main" id="{D54613B8-F48C-FC3D-5E34-ABDE1F509829}"/>
                </a:ext>
              </a:extLst>
            </p:cNvPr>
            <p:cNvSpPr txBox="1"/>
            <p:nvPr/>
          </p:nvSpPr>
          <p:spPr>
            <a:xfrm>
              <a:off x="6256070" y="5819171"/>
              <a:ext cx="16866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* Methyl group</a:t>
              </a:r>
              <a:endParaRPr lang="zh-CN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7" name="文本框 1026">
              <a:extLst>
                <a:ext uri="{FF2B5EF4-FFF2-40B4-BE49-F238E27FC236}">
                  <a16:creationId xmlns:a16="http://schemas.microsoft.com/office/drawing/2014/main" id="{D5B44392-66C6-8417-1397-36B21B108C63}"/>
                </a:ext>
              </a:extLst>
            </p:cNvPr>
            <p:cNvSpPr txBox="1"/>
            <p:nvPr/>
          </p:nvSpPr>
          <p:spPr>
            <a:xfrm>
              <a:off x="7568666" y="5012995"/>
              <a:ext cx="381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*</a:t>
              </a:r>
              <a:endParaRPr lang="zh-CN" altLang="en-US" dirty="0"/>
            </a:p>
          </p:txBody>
        </p:sp>
        <p:sp>
          <p:nvSpPr>
            <p:cNvPr id="1028" name="文本框 1027">
              <a:extLst>
                <a:ext uri="{FF2B5EF4-FFF2-40B4-BE49-F238E27FC236}">
                  <a16:creationId xmlns:a16="http://schemas.microsoft.com/office/drawing/2014/main" id="{1CDB2413-A2C1-4071-4661-C4B20C49881E}"/>
                </a:ext>
              </a:extLst>
            </p:cNvPr>
            <p:cNvSpPr txBox="1"/>
            <p:nvPr/>
          </p:nvSpPr>
          <p:spPr>
            <a:xfrm>
              <a:off x="7780516" y="5122498"/>
              <a:ext cx="381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*</a:t>
              </a:r>
              <a:endParaRPr lang="zh-CN" altLang="en-US" dirty="0"/>
            </a:p>
          </p:txBody>
        </p:sp>
        <p:sp>
          <p:nvSpPr>
            <p:cNvPr id="1029" name="文本框 1028">
              <a:extLst>
                <a:ext uri="{FF2B5EF4-FFF2-40B4-BE49-F238E27FC236}">
                  <a16:creationId xmlns:a16="http://schemas.microsoft.com/office/drawing/2014/main" id="{3E0C17A2-6C50-D98F-154D-41EC983ACA2D}"/>
                </a:ext>
              </a:extLst>
            </p:cNvPr>
            <p:cNvSpPr txBox="1"/>
            <p:nvPr/>
          </p:nvSpPr>
          <p:spPr>
            <a:xfrm>
              <a:off x="7984095" y="5688656"/>
              <a:ext cx="381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*</a:t>
              </a:r>
              <a:endParaRPr lang="zh-CN" altLang="en-US" dirty="0"/>
            </a:p>
          </p:txBody>
        </p:sp>
        <p:sp>
          <p:nvSpPr>
            <p:cNvPr id="1031" name="文本框 1030">
              <a:extLst>
                <a:ext uri="{FF2B5EF4-FFF2-40B4-BE49-F238E27FC236}">
                  <a16:creationId xmlns:a16="http://schemas.microsoft.com/office/drawing/2014/main" id="{173297C7-0C5A-434D-DCCC-AD025E9A83AF}"/>
                </a:ext>
              </a:extLst>
            </p:cNvPr>
            <p:cNvSpPr txBox="1"/>
            <p:nvPr/>
          </p:nvSpPr>
          <p:spPr>
            <a:xfrm>
              <a:off x="8645859" y="5610246"/>
              <a:ext cx="381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*</a:t>
              </a:r>
              <a:endParaRPr lang="zh-CN" altLang="en-US" dirty="0"/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7312D686-E0E3-CDB9-CB82-9E35A3DFD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778" y="405678"/>
            <a:ext cx="1436368" cy="383031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79D10FAF-6186-E45E-9E02-6738CBC0A569}"/>
              </a:ext>
            </a:extLst>
          </p:cNvPr>
          <p:cNvSpPr/>
          <p:nvPr/>
        </p:nvSpPr>
        <p:spPr>
          <a:xfrm>
            <a:off x="2322660" y="345074"/>
            <a:ext cx="4253418" cy="2032033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758454E-8E40-2CA4-8417-753EC1CB481A}"/>
              </a:ext>
            </a:extLst>
          </p:cNvPr>
          <p:cNvSpPr txBox="1"/>
          <p:nvPr/>
        </p:nvSpPr>
        <p:spPr>
          <a:xfrm>
            <a:off x="392167" y="597193"/>
            <a:ext cx="738664" cy="142615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Opensource DATABASE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59F6C85-6726-7E22-60CB-3C07B070DC5F}"/>
              </a:ext>
            </a:extLst>
          </p:cNvPr>
          <p:cNvSpPr txBox="1"/>
          <p:nvPr/>
        </p:nvSpPr>
        <p:spPr>
          <a:xfrm>
            <a:off x="2233029" y="722070"/>
            <a:ext cx="19324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Natural Products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DF8DAA1-0406-4348-ACD1-602CF76F7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9406" y="1011645"/>
            <a:ext cx="2137986" cy="39792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8E048FB-2191-A90B-E064-BCEA68B1B5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4138" y="1044574"/>
            <a:ext cx="1468123" cy="329504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6671603B-44A8-557B-297E-89B4A75C22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6313" y="1673844"/>
            <a:ext cx="1345618" cy="420766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C8BD4CE2-9483-BACC-86DF-82B53FEDD112}"/>
              </a:ext>
            </a:extLst>
          </p:cNvPr>
          <p:cNvSpPr txBox="1"/>
          <p:nvPr/>
        </p:nvSpPr>
        <p:spPr>
          <a:xfrm>
            <a:off x="2426778" y="1366500"/>
            <a:ext cx="19324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Glycomics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E5D44A4-3D68-FE31-74C1-D53AD0E09C16}"/>
              </a:ext>
            </a:extLst>
          </p:cNvPr>
          <p:cNvSpPr txBox="1"/>
          <p:nvPr/>
        </p:nvSpPr>
        <p:spPr>
          <a:xfrm>
            <a:off x="2582194" y="2056690"/>
            <a:ext cx="19324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Bioactivity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C48BA0ED-D410-6DBF-E843-A2BE45BAB5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7015" y="1665594"/>
            <a:ext cx="1831791" cy="437266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8B4EE0DE-FD80-3B7A-73BE-576501EA5A8C}"/>
              </a:ext>
            </a:extLst>
          </p:cNvPr>
          <p:cNvSpPr txBox="1"/>
          <p:nvPr/>
        </p:nvSpPr>
        <p:spPr>
          <a:xfrm>
            <a:off x="4066396" y="2063165"/>
            <a:ext cx="19324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Property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9DCD2DC4-4BFD-AF39-74E6-D1556BC281A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084"/>
          <a:stretch>
            <a:fillRect/>
          </a:stretch>
        </p:blipFill>
        <p:spPr>
          <a:xfrm>
            <a:off x="4116066" y="355871"/>
            <a:ext cx="2126195" cy="464567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3C4B2B1B-0D28-5B74-965B-2902853ABAA2}"/>
              </a:ext>
            </a:extLst>
          </p:cNvPr>
          <p:cNvSpPr txBox="1"/>
          <p:nvPr/>
        </p:nvSpPr>
        <p:spPr>
          <a:xfrm>
            <a:off x="4165439" y="708636"/>
            <a:ext cx="19324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Natural Products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BE0D663-315A-CAF5-12BE-8235349F61D4}"/>
              </a:ext>
            </a:extLst>
          </p:cNvPr>
          <p:cNvSpPr txBox="1"/>
          <p:nvPr/>
        </p:nvSpPr>
        <p:spPr>
          <a:xfrm>
            <a:off x="4411816" y="1327208"/>
            <a:ext cx="19324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Lipidomics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30" name="Picture 6" descr="Database Images - Free Download on Freepik">
            <a:extLst>
              <a:ext uri="{FF2B5EF4-FFF2-40B4-BE49-F238E27FC236}">
                <a16:creationId xmlns:a16="http://schemas.microsoft.com/office/drawing/2014/main" id="{70C6BCCF-E6C8-C59F-1F22-BDE74039D4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71" t="10285" r="20138" b="10556"/>
          <a:stretch>
            <a:fillRect/>
          </a:stretch>
        </p:blipFill>
        <p:spPr bwMode="auto">
          <a:xfrm>
            <a:off x="986943" y="355871"/>
            <a:ext cx="1246086" cy="1758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箭头: 右 34">
            <a:extLst>
              <a:ext uri="{FF2B5EF4-FFF2-40B4-BE49-F238E27FC236}">
                <a16:creationId xmlns:a16="http://schemas.microsoft.com/office/drawing/2014/main" id="{0295A795-E2CC-4B85-D665-F4D3C3819854}"/>
              </a:ext>
            </a:extLst>
          </p:cNvPr>
          <p:cNvSpPr/>
          <p:nvPr/>
        </p:nvSpPr>
        <p:spPr>
          <a:xfrm>
            <a:off x="6628706" y="1191581"/>
            <a:ext cx="1204071" cy="364993"/>
          </a:xfrm>
          <a:prstGeom prst="rightArrow">
            <a:avLst>
              <a:gd name="adj1" fmla="val 50000"/>
              <a:gd name="adj2" fmla="val 98017"/>
            </a:avLst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A3AF79F-0F88-0A0E-47C7-13CDECBCFC9B}"/>
              </a:ext>
            </a:extLst>
          </p:cNvPr>
          <p:cNvSpPr txBox="1"/>
          <p:nvPr/>
        </p:nvSpPr>
        <p:spPr>
          <a:xfrm>
            <a:off x="8181873" y="2210578"/>
            <a:ext cx="373550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NAME: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Ginsenoside Rg1  </a:t>
            </a:r>
          </a:p>
          <a:p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MW: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801.0 g/mol </a:t>
            </a: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Log P: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5.7 </a:t>
            </a:r>
          </a:p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IC50: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111 mM</a:t>
            </a:r>
            <a:b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SMILES: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CC(C)=CC</a:t>
            </a:r>
            <a:r>
              <a:rPr lang="en-US" altLang="zh-CN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US" altLang="zh-C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36" name="Picture 12">
            <a:extLst>
              <a:ext uri="{FF2B5EF4-FFF2-40B4-BE49-F238E27FC236}">
                <a16:creationId xmlns:a16="http://schemas.microsoft.com/office/drawing/2014/main" id="{E3198C36-B23A-976F-BDC3-CEDCBEC095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5897" y="355871"/>
            <a:ext cx="2509838" cy="1829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1386DDD6-55AF-FFB0-8BF2-C3613E07E70E}"/>
              </a:ext>
            </a:extLst>
          </p:cNvPr>
          <p:cNvSpPr txBox="1"/>
          <p:nvPr/>
        </p:nvSpPr>
        <p:spPr>
          <a:xfrm>
            <a:off x="7005790" y="4119479"/>
            <a:ext cx="31983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Glycan Sequence Database</a:t>
            </a:r>
          </a:p>
          <a:p>
            <a:pPr algn="ctr"/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(with Glycosidic linkage )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38" name="Picture 14" descr="RDKit介绍及使用 - 知乎">
            <a:extLst>
              <a:ext uri="{FF2B5EF4-FFF2-40B4-BE49-F238E27FC236}">
                <a16:creationId xmlns:a16="http://schemas.microsoft.com/office/drawing/2014/main" id="{0CC15847-FFB5-0B74-4F1F-DCD9692F22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6708"/>
          <a:stretch>
            <a:fillRect/>
          </a:stretch>
        </p:blipFill>
        <p:spPr bwMode="auto">
          <a:xfrm>
            <a:off x="10572841" y="3220778"/>
            <a:ext cx="1443946" cy="1420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文本框 49">
            <a:extLst>
              <a:ext uri="{FF2B5EF4-FFF2-40B4-BE49-F238E27FC236}">
                <a16:creationId xmlns:a16="http://schemas.microsoft.com/office/drawing/2014/main" id="{B6930951-34F6-028A-9563-5C44B3F93903}"/>
              </a:ext>
            </a:extLst>
          </p:cNvPr>
          <p:cNvSpPr txBox="1"/>
          <p:nvPr/>
        </p:nvSpPr>
        <p:spPr>
          <a:xfrm>
            <a:off x="10515622" y="4762060"/>
            <a:ext cx="1672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Data Splitting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42" name="Picture 18" descr="Gold Miner - EINE Cartoon-Illustration eines Gold Miner Maskottchen  Stock-Vektorgrafik - Alamy">
            <a:extLst>
              <a:ext uri="{FF2B5EF4-FFF2-40B4-BE49-F238E27FC236}">
                <a16:creationId xmlns:a16="http://schemas.microsoft.com/office/drawing/2014/main" id="{47874EDF-83FF-6812-63E6-C7CEBBB440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66"/>
          <a:stretch>
            <a:fillRect/>
          </a:stretch>
        </p:blipFill>
        <p:spPr bwMode="auto">
          <a:xfrm>
            <a:off x="4002033" y="2968832"/>
            <a:ext cx="2035823" cy="2320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箭头: 右 55">
            <a:extLst>
              <a:ext uri="{FF2B5EF4-FFF2-40B4-BE49-F238E27FC236}">
                <a16:creationId xmlns:a16="http://schemas.microsoft.com/office/drawing/2014/main" id="{AF70C54C-7BFD-87F5-5644-C980D4A4705A}"/>
              </a:ext>
            </a:extLst>
          </p:cNvPr>
          <p:cNvSpPr/>
          <p:nvPr/>
        </p:nvSpPr>
        <p:spPr>
          <a:xfrm rot="10800000">
            <a:off x="5715757" y="4082844"/>
            <a:ext cx="1204071" cy="364993"/>
          </a:xfrm>
          <a:prstGeom prst="rightArrow">
            <a:avLst>
              <a:gd name="adj1" fmla="val 50000"/>
              <a:gd name="adj2" fmla="val 98017"/>
            </a:avLst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20A186D5-887A-3C82-101D-F8EFAA6F0A97}"/>
              </a:ext>
            </a:extLst>
          </p:cNvPr>
          <p:cNvSpPr txBox="1"/>
          <p:nvPr/>
        </p:nvSpPr>
        <p:spPr>
          <a:xfrm>
            <a:off x="4088350" y="5338546"/>
            <a:ext cx="1680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DATA MINING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EEBE0D43-0E29-A225-5B46-4E3BB7534762}"/>
              </a:ext>
            </a:extLst>
          </p:cNvPr>
          <p:cNvGrpSpPr/>
          <p:nvPr/>
        </p:nvGrpSpPr>
        <p:grpSpPr>
          <a:xfrm>
            <a:off x="8803781" y="-297548"/>
            <a:ext cx="2252581" cy="6464352"/>
            <a:chOff x="7408184" y="1255154"/>
            <a:chExt cx="1784748" cy="4102240"/>
          </a:xfrm>
        </p:grpSpPr>
        <p:sp>
          <p:nvSpPr>
            <p:cNvPr id="44" name="弧形 43">
              <a:extLst>
                <a:ext uri="{FF2B5EF4-FFF2-40B4-BE49-F238E27FC236}">
                  <a16:creationId xmlns:a16="http://schemas.microsoft.com/office/drawing/2014/main" id="{0125332C-ED0C-E190-C273-FECE12631BB0}"/>
                </a:ext>
              </a:extLst>
            </p:cNvPr>
            <p:cNvSpPr/>
            <p:nvPr/>
          </p:nvSpPr>
          <p:spPr>
            <a:xfrm rot="7602361">
              <a:off x="7161060" y="2044966"/>
              <a:ext cx="2821683" cy="1242060"/>
            </a:xfrm>
            <a:prstGeom prst="arc">
              <a:avLst>
                <a:gd name="adj1" fmla="val 15340894"/>
                <a:gd name="adj2" fmla="val 20247871"/>
              </a:avLst>
            </a:prstGeom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弧形 44">
              <a:extLst>
                <a:ext uri="{FF2B5EF4-FFF2-40B4-BE49-F238E27FC236}">
                  <a16:creationId xmlns:a16="http://schemas.microsoft.com/office/drawing/2014/main" id="{F89E5926-F164-6CEE-452E-FC3E22F64C19}"/>
                </a:ext>
              </a:extLst>
            </p:cNvPr>
            <p:cNvSpPr/>
            <p:nvPr/>
          </p:nvSpPr>
          <p:spPr>
            <a:xfrm rot="7602361">
              <a:off x="6618372" y="3325523"/>
              <a:ext cx="2821683" cy="1242060"/>
            </a:xfrm>
            <a:prstGeom prst="arc">
              <a:avLst>
                <a:gd name="adj1" fmla="val 10940080"/>
                <a:gd name="adj2" fmla="val 18369408"/>
              </a:avLst>
            </a:prstGeom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035" name="图片 1034">
            <a:extLst>
              <a:ext uri="{FF2B5EF4-FFF2-40B4-BE49-F238E27FC236}">
                <a16:creationId xmlns:a16="http://schemas.microsoft.com/office/drawing/2014/main" id="{37054CDB-94B6-2105-8A05-AEDE184FF7D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53671" y="3184638"/>
            <a:ext cx="1613584" cy="989514"/>
          </a:xfrm>
          <a:prstGeom prst="rect">
            <a:avLst/>
          </a:prstGeom>
        </p:spPr>
      </p:pic>
      <p:sp>
        <p:nvSpPr>
          <p:cNvPr id="1037" name="文本框 1036">
            <a:extLst>
              <a:ext uri="{FF2B5EF4-FFF2-40B4-BE49-F238E27FC236}">
                <a16:creationId xmlns:a16="http://schemas.microsoft.com/office/drawing/2014/main" id="{B6B1E15B-52DB-F31A-3447-C25C6F1DB37B}"/>
              </a:ext>
            </a:extLst>
          </p:cNvPr>
          <p:cNvSpPr txBox="1"/>
          <p:nvPr/>
        </p:nvSpPr>
        <p:spPr>
          <a:xfrm>
            <a:off x="2635827" y="5624966"/>
            <a:ext cx="497443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Gold Glycan Rush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Same Scaffold with Different Sugar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 Sugar Sequence for similar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Chemical little change from same organism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zh-CN" altLang="en-US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9" name="箭头: 右 1038">
            <a:extLst>
              <a:ext uri="{FF2B5EF4-FFF2-40B4-BE49-F238E27FC236}">
                <a16:creationId xmlns:a16="http://schemas.microsoft.com/office/drawing/2014/main" id="{A65B5222-7D9C-9DFE-72DE-4DCDBF33634D}"/>
              </a:ext>
            </a:extLst>
          </p:cNvPr>
          <p:cNvSpPr/>
          <p:nvPr/>
        </p:nvSpPr>
        <p:spPr>
          <a:xfrm rot="10800000">
            <a:off x="2437511" y="4157184"/>
            <a:ext cx="1204071" cy="364993"/>
          </a:xfrm>
          <a:prstGeom prst="rightArrow">
            <a:avLst>
              <a:gd name="adj1" fmla="val 50000"/>
              <a:gd name="adj2" fmla="val 98017"/>
            </a:avLst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46" name="Picture 22" descr="云脑PNG图片素材下载_PNG_熊猫办公">
            <a:extLst>
              <a:ext uri="{FF2B5EF4-FFF2-40B4-BE49-F238E27FC236}">
                <a16:creationId xmlns:a16="http://schemas.microsoft.com/office/drawing/2014/main" id="{C40C9807-DC93-C3DD-7443-4ABD90D65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627233">
            <a:off x="332398" y="4169443"/>
            <a:ext cx="1968938" cy="1971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3" name="文本框 1042">
            <a:extLst>
              <a:ext uri="{FF2B5EF4-FFF2-40B4-BE49-F238E27FC236}">
                <a16:creationId xmlns:a16="http://schemas.microsoft.com/office/drawing/2014/main" id="{A700B9CA-F2D3-4477-32BC-C76148342653}"/>
              </a:ext>
            </a:extLst>
          </p:cNvPr>
          <p:cNvSpPr txBox="1"/>
          <p:nvPr/>
        </p:nvSpPr>
        <p:spPr>
          <a:xfrm>
            <a:off x="15976" y="5688349"/>
            <a:ext cx="2595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AI-assisted Screening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48" name="图片 1047">
            <a:extLst>
              <a:ext uri="{FF2B5EF4-FFF2-40B4-BE49-F238E27FC236}">
                <a16:creationId xmlns:a16="http://schemas.microsoft.com/office/drawing/2014/main" id="{E2A26BB8-58E4-0AD8-602B-99B527EFECC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0595" y="2496826"/>
            <a:ext cx="2286915" cy="1555667"/>
          </a:xfrm>
          <a:prstGeom prst="rect">
            <a:avLst/>
          </a:prstGeom>
        </p:spPr>
      </p:pic>
      <p:sp>
        <p:nvSpPr>
          <p:cNvPr id="1050" name="文本框 1049">
            <a:extLst>
              <a:ext uri="{FF2B5EF4-FFF2-40B4-BE49-F238E27FC236}">
                <a16:creationId xmlns:a16="http://schemas.microsoft.com/office/drawing/2014/main" id="{10EAEDD3-DAD9-12B8-B360-42E54B786950}"/>
              </a:ext>
            </a:extLst>
          </p:cNvPr>
          <p:cNvSpPr txBox="1"/>
          <p:nvPr/>
        </p:nvSpPr>
        <p:spPr>
          <a:xfrm>
            <a:off x="442148" y="4082844"/>
            <a:ext cx="1377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AI Training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2ADE14-6627-FF7E-A002-4E8DA9CB9C1C}"/>
              </a:ext>
            </a:extLst>
          </p:cNvPr>
          <p:cNvSpPr txBox="1"/>
          <p:nvPr/>
        </p:nvSpPr>
        <p:spPr>
          <a:xfrm>
            <a:off x="7230741" y="-8284"/>
            <a:ext cx="49961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Steroid Glycosides/Natural Herb Extraction </a:t>
            </a:r>
          </a:p>
        </p:txBody>
      </p:sp>
    </p:spTree>
    <p:extLst>
      <p:ext uri="{BB962C8B-B14F-4D97-AF65-F5344CB8AC3E}">
        <p14:creationId xmlns:p14="http://schemas.microsoft.com/office/powerpoint/2010/main" val="504764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A076DDE-AEBD-8864-3D28-099622516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5789" y="0"/>
            <a:ext cx="7300267" cy="6858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409490C-5400-D3FA-483B-D9E51AEBF2EF}"/>
              </a:ext>
            </a:extLst>
          </p:cNvPr>
          <p:cNvSpPr txBox="1"/>
          <p:nvPr/>
        </p:nvSpPr>
        <p:spPr>
          <a:xfrm>
            <a:off x="488814" y="917111"/>
            <a:ext cx="608451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333333"/>
                </a:solidFill>
                <a:latin typeface="Helvetica Neue"/>
              </a:rPr>
              <a:t>Ginsenoside</a:t>
            </a:r>
          </a:p>
          <a:p>
            <a:r>
              <a:rPr lang="en-US" altLang="zh-CN" sz="2400" dirty="0">
                <a:solidFill>
                  <a:srgbClr val="333333"/>
                </a:solidFill>
                <a:latin typeface="Helvetica Neue"/>
              </a:rPr>
              <a:t>Steroid Glycosides </a:t>
            </a:r>
          </a:p>
          <a:p>
            <a:r>
              <a:rPr lang="en-US" altLang="zh-CN" sz="2400" dirty="0">
                <a:solidFill>
                  <a:srgbClr val="333333"/>
                </a:solidFill>
                <a:latin typeface="Helvetica Neue"/>
              </a:rPr>
              <a:t> Natural Product </a:t>
            </a:r>
          </a:p>
          <a:p>
            <a:r>
              <a:rPr lang="en-US" altLang="zh-CN" sz="2400" dirty="0">
                <a:solidFill>
                  <a:srgbClr val="333333"/>
                </a:solidFill>
                <a:latin typeface="Helvetica Neue"/>
              </a:rPr>
              <a:t>Tr</a:t>
            </a:r>
          </a:p>
          <a:p>
            <a:endParaRPr lang="zh-CN" altLang="en-US" sz="2400" dirty="0">
              <a:solidFill>
                <a:srgbClr val="333333"/>
              </a:solidFill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296719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77D4914-003A-9F2D-C669-CF426C44CE86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2"/>
              </a:rPr>
              <a:t>Compound: GINSENOSIDE F1 (CHEMBL584011) - </a:t>
            </a:r>
            <a:r>
              <a:rPr lang="en-US" altLang="zh-CN" dirty="0" err="1">
                <a:hlinkClick r:id="rId2"/>
              </a:rPr>
              <a:t>ChEMBL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32B19E-25E7-5670-D132-D9B60F36D07D}"/>
              </a:ext>
            </a:extLst>
          </p:cNvPr>
          <p:cNvSpPr txBox="1"/>
          <p:nvPr/>
        </p:nvSpPr>
        <p:spPr>
          <a:xfrm>
            <a:off x="2762250" y="28617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hlinkClick r:id="rId3"/>
              </a:rPr>
              <a:t>KNApSAcK</a:t>
            </a:r>
            <a:r>
              <a:rPr lang="en-US" altLang="zh-CN" dirty="0">
                <a:hlinkClick r:id="rId3"/>
              </a:rPr>
              <a:t> Metabolite Information - GINSENOSIDE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7641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116</Words>
  <Application>Microsoft Office PowerPoint</Application>
  <PresentationFormat>宽屏</PresentationFormat>
  <Paragraphs>34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Helvetica Neue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Yang</dc:creator>
  <cp:lastModifiedBy>Daniel Yang</cp:lastModifiedBy>
  <cp:revision>5</cp:revision>
  <dcterms:created xsi:type="dcterms:W3CDTF">2026-01-27T18:24:08Z</dcterms:created>
  <dcterms:modified xsi:type="dcterms:W3CDTF">2026-01-27T20:42:38Z</dcterms:modified>
</cp:coreProperties>
</file>